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4"/>
  </p:sldMasterIdLst>
  <p:notesMasterIdLst>
    <p:notesMasterId r:id="rId24"/>
  </p:notesMasterIdLst>
  <p:handoutMasterIdLst>
    <p:handoutMasterId r:id="rId25"/>
  </p:handoutMasterIdLst>
  <p:sldIdLst>
    <p:sldId id="296" r:id="rId5"/>
    <p:sldId id="322" r:id="rId6"/>
    <p:sldId id="326" r:id="rId7"/>
    <p:sldId id="323" r:id="rId8"/>
    <p:sldId id="319" r:id="rId9"/>
    <p:sldId id="320" r:id="rId10"/>
    <p:sldId id="321" r:id="rId11"/>
    <p:sldId id="324" r:id="rId12"/>
    <p:sldId id="325" r:id="rId13"/>
    <p:sldId id="328" r:id="rId14"/>
    <p:sldId id="329" r:id="rId15"/>
    <p:sldId id="327" r:id="rId16"/>
    <p:sldId id="331" r:id="rId17"/>
    <p:sldId id="334" r:id="rId18"/>
    <p:sldId id="330" r:id="rId19"/>
    <p:sldId id="312" r:id="rId20"/>
    <p:sldId id="332" r:id="rId21"/>
    <p:sldId id="333" r:id="rId22"/>
    <p:sldId id="31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26" autoAdjust="0"/>
  </p:normalViewPr>
  <p:slideViewPr>
    <p:cSldViewPr snapToGrid="0">
      <p:cViewPr varScale="1">
        <p:scale>
          <a:sx n="79" d="100"/>
          <a:sy n="79" d="100"/>
        </p:scale>
        <p:origin x="835" y="4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57BDD2-FD8F-DB97-3B52-B87D6F3C20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B646F6-9457-BD67-7C83-65FAA5E751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49A72A-4651-45C7-9E42-35BFFD46D92F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0DE2B-367D-0F52-FAA8-3ACF1E4EAA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8C8EAA-C094-412A-F8A7-2165B600C3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88172-A614-444B-9E98-71B10C8CD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580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49352-39CB-486C-AEA5-5D17795DD0C7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0E6F85-6220-421D-9203-84F526C4C6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25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6F85-6220-421D-9203-84F526C4C6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19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31816-AF2F-1242-F46B-D491A845E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A44CE-7EA8-1458-D688-33AE22854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EC9CE-4E9C-5EDC-E164-36D0F5B6D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87164-08E0-C6EF-2F03-E48C6796A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6F85-6220-421D-9203-84F526C4C60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1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55605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17823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77098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17176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46999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06460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82709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53492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880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53996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51952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8121AD-8518-1695-111E-C8CFF8A3D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4" y="0"/>
            <a:ext cx="12192004" cy="6858000"/>
            <a:chOff x="-4" y="0"/>
            <a:chExt cx="12192004" cy="6858000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52728D19-281F-4946-9684-65A557653DDA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412D4F2-D8CF-48D7-8E93-9342D2AE3950}"/>
                </a:ext>
              </a:extLst>
            </p:cNvPr>
            <p:cNvSpPr/>
            <p:nvPr userDrawn="1"/>
          </p:nvSpPr>
          <p:spPr>
            <a:xfrm rot="10800000" flipH="1">
              <a:off x="0" y="0"/>
              <a:ext cx="12191999" cy="6858000"/>
            </a:xfrm>
            <a:prstGeom prst="rect">
              <a:avLst/>
            </a:prstGeom>
            <a:gradFill>
              <a:gsLst>
                <a:gs pos="0">
                  <a:schemeClr val="accent5">
                    <a:alpha val="75000"/>
                  </a:schemeClr>
                </a:gs>
                <a:gs pos="100000">
                  <a:schemeClr val="tx2">
                    <a:lumMod val="50000"/>
                    <a:lumOff val="50000"/>
                    <a:alpha val="48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1071F9-5F9E-43AF-B1F9-8F94CCA0D1D0}"/>
                </a:ext>
              </a:extLst>
            </p:cNvPr>
            <p:cNvSpPr/>
            <p:nvPr userDrawn="1"/>
          </p:nvSpPr>
          <p:spPr>
            <a:xfrm rot="10800000">
              <a:off x="-4" y="456773"/>
              <a:ext cx="12191999" cy="6400800"/>
            </a:xfrm>
            <a:prstGeom prst="rect">
              <a:avLst/>
            </a:prstGeom>
            <a:gradFill>
              <a:gsLst>
                <a:gs pos="0">
                  <a:schemeClr val="accent5">
                    <a:alpha val="37000"/>
                  </a:schemeClr>
                </a:gs>
                <a:gs pos="92000">
                  <a:schemeClr val="accent2">
                    <a:alpha val="7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54D1A4-E8FD-4E5A-A528-35498A356680}"/>
                </a:ext>
              </a:extLst>
            </p:cNvPr>
            <p:cNvSpPr/>
            <p:nvPr userDrawn="1"/>
          </p:nvSpPr>
          <p:spPr>
            <a:xfrm rot="10800000" flipH="1">
              <a:off x="-2" y="0"/>
              <a:ext cx="6096001" cy="6858000"/>
            </a:xfrm>
            <a:prstGeom prst="rect">
              <a:avLst/>
            </a:prstGeom>
            <a:gradFill>
              <a:gsLst>
                <a:gs pos="13000">
                  <a:schemeClr val="accent2">
                    <a:alpha val="61000"/>
                  </a:schemeClr>
                </a:gs>
                <a:gs pos="99000">
                  <a:schemeClr val="accent4"/>
                </a:gs>
              </a:gsLst>
              <a:lin ang="18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30DFABF-2A96-46EC-8C35-1C4A9D0A0739}"/>
                </a:ext>
              </a:extLst>
            </p:cNvPr>
            <p:cNvSpPr>
              <a:spLocks noChangeAspect="1"/>
            </p:cNvSpPr>
            <p:nvPr userDrawn="1"/>
          </p:nvSpPr>
          <p:spPr>
            <a:xfrm rot="16200000" flipH="1">
              <a:off x="3489960" y="822961"/>
              <a:ext cx="5212080" cy="5212080"/>
            </a:xfrm>
            <a:prstGeom prst="ellipse">
              <a:avLst/>
            </a:prstGeom>
            <a:gradFill flip="none" rotWithShape="1">
              <a:gsLst>
                <a:gs pos="7000">
                  <a:schemeClr val="accent4">
                    <a:lumMod val="60000"/>
                    <a:lumOff val="40000"/>
                    <a:alpha val="300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" name="Freeform: Shape 19">
            <a:extLst>
              <a:ext uri="{FF2B5EF4-FFF2-40B4-BE49-F238E27FC236}">
                <a16:creationId xmlns:a16="http://schemas.microsoft.com/office/drawing/2014/main" id="{9829D3BA-2CE1-52FA-09B7-96BDEAF53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124200" y="459028"/>
            <a:ext cx="5943600" cy="5939944"/>
          </a:xfrm>
          <a:prstGeom prst="ellipse">
            <a:avLst/>
          </a:prstGeom>
          <a:gradFill flip="none" rotWithShape="1">
            <a:gsLst>
              <a:gs pos="7000">
                <a:schemeClr val="accent5">
                  <a:alpha val="30000"/>
                </a:schemeClr>
              </a:gs>
              <a:gs pos="100000">
                <a:schemeClr val="accent3">
                  <a:alpha val="2000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5BA1B2-362C-9BE1-25F7-1E3A86E26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5360" y="1731702"/>
            <a:ext cx="10241280" cy="3394596"/>
          </a:xfrm>
        </p:spPr>
        <p:txBody>
          <a:bodyPr anchor="ctr" anchorCtr="0"/>
          <a:lstStyle>
            <a:lvl1pPr algn="ctr"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53DD31-8C23-CEA0-7016-E263E3AE4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401228"/>
            <a:ext cx="12192000" cy="456772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tx2">
                  <a:lumMod val="50000"/>
                  <a:lumOff val="50000"/>
                  <a:alpha val="48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860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8121AD-8518-1695-111E-C8CFF8A3D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4" y="0"/>
            <a:ext cx="12192004" cy="6858000"/>
            <a:chOff x="-4" y="0"/>
            <a:chExt cx="12192004" cy="6858000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52728D19-281F-4946-9684-65A557653DDA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412D4F2-D8CF-48D7-8E93-9342D2AE3950}"/>
                </a:ext>
              </a:extLst>
            </p:cNvPr>
            <p:cNvSpPr/>
            <p:nvPr userDrawn="1"/>
          </p:nvSpPr>
          <p:spPr>
            <a:xfrm rot="10800000" flipH="1">
              <a:off x="0" y="0"/>
              <a:ext cx="12191999" cy="6858000"/>
            </a:xfrm>
            <a:prstGeom prst="rect">
              <a:avLst/>
            </a:prstGeom>
            <a:gradFill>
              <a:gsLst>
                <a:gs pos="0">
                  <a:schemeClr val="accent5">
                    <a:alpha val="75000"/>
                  </a:schemeClr>
                </a:gs>
                <a:gs pos="100000">
                  <a:schemeClr val="tx2">
                    <a:lumMod val="50000"/>
                    <a:lumOff val="50000"/>
                    <a:alpha val="48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1071F9-5F9E-43AF-B1F9-8F94CCA0D1D0}"/>
                </a:ext>
              </a:extLst>
            </p:cNvPr>
            <p:cNvSpPr/>
            <p:nvPr userDrawn="1"/>
          </p:nvSpPr>
          <p:spPr>
            <a:xfrm rot="10800000">
              <a:off x="-4" y="456773"/>
              <a:ext cx="12191999" cy="6400800"/>
            </a:xfrm>
            <a:prstGeom prst="rect">
              <a:avLst/>
            </a:prstGeom>
            <a:gradFill>
              <a:gsLst>
                <a:gs pos="0">
                  <a:schemeClr val="accent5">
                    <a:alpha val="37000"/>
                  </a:schemeClr>
                </a:gs>
                <a:gs pos="92000">
                  <a:schemeClr val="accent2">
                    <a:alpha val="7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54D1A4-E8FD-4E5A-A528-35498A356680}"/>
                </a:ext>
              </a:extLst>
            </p:cNvPr>
            <p:cNvSpPr/>
            <p:nvPr userDrawn="1"/>
          </p:nvSpPr>
          <p:spPr>
            <a:xfrm rot="10800000" flipH="1">
              <a:off x="-2" y="0"/>
              <a:ext cx="6096001" cy="6858000"/>
            </a:xfrm>
            <a:prstGeom prst="rect">
              <a:avLst/>
            </a:prstGeom>
            <a:gradFill>
              <a:gsLst>
                <a:gs pos="13000">
                  <a:schemeClr val="accent2">
                    <a:alpha val="61000"/>
                  </a:schemeClr>
                </a:gs>
                <a:gs pos="99000">
                  <a:schemeClr val="accent4"/>
                </a:gs>
              </a:gsLst>
              <a:lin ang="18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30DFABF-2A96-46EC-8C35-1C4A9D0A0739}"/>
                </a:ext>
              </a:extLst>
            </p:cNvPr>
            <p:cNvSpPr/>
            <p:nvPr userDrawn="1"/>
          </p:nvSpPr>
          <p:spPr>
            <a:xfrm rot="16200000" flipH="1">
              <a:off x="4063256" y="400727"/>
              <a:ext cx="4065484" cy="8849062"/>
            </a:xfrm>
            <a:custGeom>
              <a:avLst/>
              <a:gdLst>
                <a:gd name="connsiteX0" fmla="*/ 0 w 4065484"/>
                <a:gd name="connsiteY0" fmla="*/ 4424531 h 8849062"/>
                <a:gd name="connsiteX1" fmla="*/ 3899197 w 4065484"/>
                <a:gd name="connsiteY1" fmla="*/ 8840480 h 8849062"/>
                <a:gd name="connsiteX2" fmla="*/ 4065484 w 4065484"/>
                <a:gd name="connsiteY2" fmla="*/ 8849062 h 8849062"/>
                <a:gd name="connsiteX3" fmla="*/ 4065483 w 4065484"/>
                <a:gd name="connsiteY3" fmla="*/ 0 h 8849062"/>
                <a:gd name="connsiteX4" fmla="*/ 3899197 w 4065484"/>
                <a:gd name="connsiteY4" fmla="*/ 8581 h 8849062"/>
                <a:gd name="connsiteX5" fmla="*/ 0 w 4065484"/>
                <a:gd name="connsiteY5" fmla="*/ 4424531 h 884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5484" h="8849062">
                  <a:moveTo>
                    <a:pt x="0" y="4424531"/>
                  </a:moveTo>
                  <a:cubicBezTo>
                    <a:pt x="0" y="6722831"/>
                    <a:pt x="1709076" y="8613167"/>
                    <a:pt x="3899197" y="8840480"/>
                  </a:cubicBezTo>
                  <a:lnTo>
                    <a:pt x="4065484" y="8849062"/>
                  </a:lnTo>
                  <a:lnTo>
                    <a:pt x="4065483" y="0"/>
                  </a:lnTo>
                  <a:lnTo>
                    <a:pt x="3899197" y="8581"/>
                  </a:lnTo>
                  <a:cubicBezTo>
                    <a:pt x="1709075" y="235897"/>
                    <a:pt x="0" y="2126232"/>
                    <a:pt x="0" y="4424531"/>
                  </a:cubicBezTo>
                  <a:close/>
                </a:path>
              </a:pathLst>
            </a:custGeom>
            <a:gradFill flip="none" rotWithShape="1">
              <a:gsLst>
                <a:gs pos="7000">
                  <a:schemeClr val="accent4">
                    <a:lumMod val="60000"/>
                    <a:lumOff val="40000"/>
                    <a:alpha val="300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55BA1B2-362C-9BE1-25F7-1E3A86E26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5360" y="590550"/>
            <a:ext cx="10241280" cy="1439418"/>
          </a:xfrm>
        </p:spPr>
        <p:txBody>
          <a:bodyPr/>
          <a:lstStyle>
            <a:lvl1pPr algn="ctr"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D9302-4099-D96F-C590-EF27DFFCD1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5360" y="2408517"/>
            <a:ext cx="10241280" cy="83239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D7662E6F-0458-41D6-A36A-37011FA74B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43302" y="3351746"/>
            <a:ext cx="7519558" cy="3506255"/>
          </a:xfrm>
          <a:custGeom>
            <a:avLst/>
            <a:gdLst>
              <a:gd name="connsiteX0" fmla="*/ 3759779 w 7519558"/>
              <a:gd name="connsiteY0" fmla="*/ 0 h 3506255"/>
              <a:gd name="connsiteX1" fmla="*/ 7513560 w 7519558"/>
              <a:gd name="connsiteY1" fmla="*/ 3387468 h 3506255"/>
              <a:gd name="connsiteX2" fmla="*/ 7519558 w 7519558"/>
              <a:gd name="connsiteY2" fmla="*/ 3506255 h 3506255"/>
              <a:gd name="connsiteX3" fmla="*/ 0 w 7519558"/>
              <a:gd name="connsiteY3" fmla="*/ 3506255 h 3506255"/>
              <a:gd name="connsiteX4" fmla="*/ 5998 w 7519558"/>
              <a:gd name="connsiteY4" fmla="*/ 3387468 h 3506255"/>
              <a:gd name="connsiteX5" fmla="*/ 3759779 w 7519558"/>
              <a:gd name="connsiteY5" fmla="*/ 0 h 3506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19558" h="3506255">
                <a:moveTo>
                  <a:pt x="3759779" y="0"/>
                </a:moveTo>
                <a:cubicBezTo>
                  <a:pt x="5713450" y="0"/>
                  <a:pt x="7320331" y="1484777"/>
                  <a:pt x="7513560" y="3387468"/>
                </a:cubicBezTo>
                <a:lnTo>
                  <a:pt x="7519558" y="3506255"/>
                </a:lnTo>
                <a:lnTo>
                  <a:pt x="0" y="3506255"/>
                </a:lnTo>
                <a:lnTo>
                  <a:pt x="5998" y="3387468"/>
                </a:lnTo>
                <a:cubicBezTo>
                  <a:pt x="199227" y="1484777"/>
                  <a:pt x="1806109" y="0"/>
                  <a:pt x="3759779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tIns="365760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379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6656623-465F-ABF1-A0A3-D5DED6EB1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7809" y="0"/>
            <a:ext cx="6113515" cy="6411879"/>
            <a:chOff x="-17809" y="0"/>
            <a:chExt cx="6113515" cy="6411879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E2DFFA2-22D4-4919-9C0C-45E51AF578AC}"/>
                </a:ext>
              </a:extLst>
            </p:cNvPr>
            <p:cNvSpPr/>
            <p:nvPr userDrawn="1"/>
          </p:nvSpPr>
          <p:spPr>
            <a:xfrm rot="5400000" flipH="1">
              <a:off x="-152592" y="162118"/>
              <a:ext cx="6400418" cy="6095233"/>
            </a:xfrm>
            <a:prstGeom prst="rect">
              <a:avLst/>
            </a:prstGeom>
            <a:gradFill>
              <a:gsLst>
                <a:gs pos="8000">
                  <a:schemeClr val="accent6"/>
                </a:gs>
                <a:gs pos="100000">
                  <a:schemeClr val="accent5">
                    <a:alpha val="89000"/>
                  </a:scheme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4FBF45C-4020-4F59-8E88-4006B53BE427}"/>
                </a:ext>
              </a:extLst>
            </p:cNvPr>
            <p:cNvSpPr/>
            <p:nvPr userDrawn="1"/>
          </p:nvSpPr>
          <p:spPr>
            <a:xfrm rot="5400000" flipH="1">
              <a:off x="-161024" y="143687"/>
              <a:ext cx="6400418" cy="6113043"/>
            </a:xfrm>
            <a:prstGeom prst="rect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FCE23BB-F1B6-4676-BAD7-56273E800FEB}"/>
                </a:ext>
              </a:extLst>
            </p:cNvPr>
            <p:cNvSpPr/>
            <p:nvPr userDrawn="1"/>
          </p:nvSpPr>
          <p:spPr>
            <a:xfrm rot="5400000" flipH="1">
              <a:off x="1932850" y="2249496"/>
              <a:ext cx="2211724" cy="6113042"/>
            </a:xfrm>
            <a:prstGeom prst="rect">
              <a:avLst/>
            </a:prstGeom>
            <a:gradFill>
              <a:gsLst>
                <a:gs pos="2000">
                  <a:schemeClr val="accent5">
                    <a:alpha val="28000"/>
                  </a:schemeClr>
                </a:gs>
                <a:gs pos="100000">
                  <a:schemeClr val="accent4">
                    <a:alpha val="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136A792-3F80-40BE-96DB-0CDC51B9AA89}"/>
                </a:ext>
              </a:extLst>
            </p:cNvPr>
            <p:cNvSpPr/>
            <p:nvPr userDrawn="1"/>
          </p:nvSpPr>
          <p:spPr>
            <a:xfrm rot="6097846">
              <a:off x="767675" y="747345"/>
              <a:ext cx="4808302" cy="4808302"/>
            </a:xfrm>
            <a:prstGeom prst="ellipse">
              <a:avLst/>
            </a:prstGeom>
            <a:gradFill>
              <a:gsLst>
                <a:gs pos="39000">
                  <a:schemeClr val="accent4">
                    <a:lumMod val="20000"/>
                    <a:lumOff val="80000"/>
                    <a:alpha val="0"/>
                  </a:schemeClr>
                </a:gs>
                <a:gs pos="100000">
                  <a:schemeClr val="accent6">
                    <a:alpha val="29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7B9F2E-88FD-DD95-86E3-4FB51190D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80592"/>
            <a:ext cx="5168348" cy="37101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D23A755B-04DF-191D-5B87-B81FF2D5532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8502" y="102442"/>
            <a:ext cx="5089242" cy="6177587"/>
          </a:xfrm>
        </p:spPr>
        <p:txBody>
          <a:bodyPr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742950" indent="-285750">
              <a:buFont typeface="Arial" panose="020B0604020202020204" pitchFamily="34" charset="0"/>
              <a:buChar char="•"/>
              <a:defRPr sz="2000">
                <a:latin typeface="+mj-lt"/>
              </a:defRPr>
            </a:lvl2pPr>
            <a:lvl3pPr marL="1200150" indent="-285750">
              <a:buFont typeface="Arial" panose="020B0604020202020204" pitchFamily="34" charset="0"/>
              <a:buChar char="•"/>
              <a:defRPr sz="2000">
                <a:latin typeface="+mj-lt"/>
              </a:defRPr>
            </a:lvl3pPr>
            <a:lvl4pPr marL="1657350" indent="-285750">
              <a:buFont typeface="Arial" panose="020B0604020202020204" pitchFamily="34" charset="0"/>
              <a:buChar char="•"/>
              <a:defRPr sz="2000">
                <a:latin typeface="+mj-lt"/>
              </a:defRPr>
            </a:lvl4pPr>
            <a:lvl5pPr marL="2114550" indent="-285750">
              <a:buFont typeface="Arial" panose="020B0604020202020204" pitchFamily="34" charset="0"/>
              <a:buChar char="•"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625606" y="1707902"/>
            <a:ext cx="37084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8" name="Date Placeholder 1">
            <a:extLst>
              <a:ext uri="{FF2B5EF4-FFF2-40B4-BE49-F238E27FC236}">
                <a16:creationId xmlns:a16="http://schemas.microsoft.com/office/drawing/2014/main" id="{2DCC7554-6615-4584-921E-91285C62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09560" y="6409944"/>
            <a:ext cx="3703320" cy="448056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9" name="Slide Number Placeholder 3">
            <a:extLst>
              <a:ext uri="{FF2B5EF4-FFF2-40B4-BE49-F238E27FC236}">
                <a16:creationId xmlns:a16="http://schemas.microsoft.com/office/drawing/2014/main" id="{564CDF61-B448-4746-A22C-52C864C1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8637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9266C16-8EA6-D555-3ADA-1DE204938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8562" y="366777"/>
            <a:ext cx="5216238" cy="33822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A2D2C88-FFBE-4F25-871F-68A09C5F53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409944"/>
          </a:xfrm>
          <a:solidFill>
            <a:schemeClr val="accent6"/>
          </a:solidFill>
        </p:spPr>
        <p:txBody>
          <a:bodyPr tIns="274320" anchor="t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0529A2-5928-42C4-B397-6AEE7520D2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18562" y="3923818"/>
            <a:ext cx="5216239" cy="2349660"/>
          </a:xfrm>
        </p:spPr>
        <p:txBody>
          <a:bodyPr tIns="91440">
            <a:noAutofit/>
          </a:bodyPr>
          <a:lstStyle>
            <a:lvl1pPr>
              <a:buNone/>
              <a:defRPr sz="2000">
                <a:solidFill>
                  <a:schemeClr val="tx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79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B858A11-CF78-F0C2-6CC5-E8D330396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180C09-F568-5879-8C5F-E0BE933A89FD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213324-86C8-E3DF-9718-A525F6A309D2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14863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3" r:id="rId13"/>
    <p:sldLayoutId id="2147483744" r:id="rId14"/>
    <p:sldLayoutId id="2147483752" r:id="rId15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MHcr19dejyw?feature=oembe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96xx383lpiI?feature=oembed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5eTVGaa9KwA?feature=oembe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ZY-Ytrw2co?feature=oembed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_M1t0HE-Kk?feature=oembe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G_yM7We0C8?start=5198&amp;feature=oembed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tnTs90knro?start=285&amp;feature=oembe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JpRSf4q-hI?feature=oembed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MWMq4AEyjU?feature=oembed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HW2lO8yacLA?feature=oembed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E0F0A-3BC6-A4BF-0161-DCE0CBC0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Soviet montage</a:t>
            </a:r>
          </a:p>
        </p:txBody>
      </p:sp>
    </p:spTree>
    <p:extLst>
      <p:ext uri="{BB962C8B-B14F-4D97-AF65-F5344CB8AC3E}">
        <p14:creationId xmlns:p14="http://schemas.microsoft.com/office/powerpoint/2010/main" val="3899882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6E908B8-DF7B-9BAA-3A2B-B320BFC5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905" y="94004"/>
            <a:ext cx="10241280" cy="423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Soviet cinema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F308A2-A77C-526B-69A6-150D9E840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114" y="670511"/>
            <a:ext cx="10510762" cy="5251318"/>
          </a:xfrm>
        </p:spPr>
        <p:txBody>
          <a:bodyPr/>
          <a:lstStyle/>
          <a:p>
            <a:r>
              <a:rPr lang="en-US" sz="2800" dirty="0"/>
              <a:t>In 1917, the Bolsheviks took power from Tsar Nicholas the II</a:t>
            </a:r>
          </a:p>
          <a:p>
            <a:r>
              <a:rPr lang="en-US" sz="2800" dirty="0"/>
              <a:t>The “New Soviet” Society inspired filmmakers  to create film geared to the needs of the working people</a:t>
            </a:r>
          </a:p>
          <a:p>
            <a:r>
              <a:rPr lang="en-US" sz="2800" dirty="0"/>
              <a:t>Film was not an art, but a product in service of the masses</a:t>
            </a:r>
          </a:p>
          <a:p>
            <a:r>
              <a:rPr lang="en-US" sz="2800" dirty="0"/>
              <a:t>This was called Soviet Montage Cinema</a:t>
            </a:r>
          </a:p>
          <a:p>
            <a:pPr lvl="1"/>
            <a:r>
              <a:rPr lang="en-US" sz="2800" dirty="0"/>
              <a:t>Graphic and rhythmic editing provided key connections between shots</a:t>
            </a:r>
          </a:p>
          <a:p>
            <a:r>
              <a:rPr lang="en-US" sz="2800" dirty="0"/>
              <a:t>Soviet Cinema was about education-particularly the new Soviet government wanted to educate people on Marxism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999FF-80DF-460E-F6F3-B24D6F30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57F5-96C8-461D-A78C-38E92FE1C52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04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64F6A5C-04A8-38AE-1C61-6C9BA856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324" y="331071"/>
            <a:ext cx="10241280" cy="273691"/>
          </a:xfrm>
        </p:spPr>
        <p:txBody>
          <a:bodyPr>
            <a:normAutofit fontScale="90000"/>
          </a:bodyPr>
          <a:lstStyle/>
          <a:p>
            <a:r>
              <a:rPr lang="en-US" dirty="0"/>
              <a:t>Marxism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EF9F89-3F55-EA8D-59D5-4773B9B8D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076" y="890209"/>
            <a:ext cx="10876038" cy="5539619"/>
          </a:xfrm>
        </p:spPr>
        <p:txBody>
          <a:bodyPr>
            <a:normAutofit fontScale="92500"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Examines the historical effects of capitalism on labor, productivity, and economic development, and argues that a worker revolution is needed to replace capitalism with a communist system.</a:t>
            </a:r>
          </a:p>
          <a:p>
            <a:pPr marL="742950" lvl="1" indent="-28575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The  struggle between social classes—specifically between the bourgeoisie and the workers—defines economic relations in a capitalist economy and will lead inevitably to a communist revolution.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Marxist Film Theory emerged during 1920s Soviet Union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The  Bolshevik revolution in 1917 was when “Marxism shaped cinema and other arts.” 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In 1917,  the Communist Party declared cinema vital to the arts.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Key figures of Marxist film theory </a:t>
            </a: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Sergei Eisenstein was one of the founding leaders of Marxist film theory.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Soviet Filmmakers wanted to move away from the Hollywood narrative structure.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62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17845-7C44-28E1-64D9-7015204B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F1785-59CF-38B3-C52E-5221550AF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film theory, a montage is the assembly of various clips, strung together to create a deeper meaning. </a:t>
            </a:r>
          </a:p>
          <a:p>
            <a:r>
              <a:rPr lang="en-US" sz="2400" dirty="0"/>
              <a:t>In today’s cinema, a montage is a sequence of varying shots, edited together to make a larger narrative statement than made by any of the shots individually. Montage is an essential tool in video editing.</a:t>
            </a:r>
          </a:p>
          <a:p>
            <a:r>
              <a:rPr lang="en-US" sz="2400" dirty="0"/>
              <a:t>The early Soviet filmmakers theorized that through editing, shots could be placed in a juxtaposition to one another to create a relationship.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CA7C4-AF9E-015D-85A8-F35FA0FFD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178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7EF8BC-83B4-9295-9808-93280BFA5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48" y="126371"/>
            <a:ext cx="3932237" cy="189280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Kuleshov effect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7AEA07B-6F2B-E3DC-A088-C6DA5C058953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32370A-5330-1834-F23B-00EC77D75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1714" y="2167267"/>
            <a:ext cx="4255105" cy="348362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sz="2000" dirty="0"/>
              <a:t>Kuleshov found that the way you edit together a montage of different shots during post-production influences your audience’s emotional response.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E0DF4-C110-B319-9FB7-768FCAB80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80" y="595311"/>
            <a:ext cx="6427319" cy="565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61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A76EFE-328F-97B9-2E7D-57234D0C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85" y="108520"/>
            <a:ext cx="10241280" cy="573652"/>
          </a:xfrm>
        </p:spPr>
        <p:txBody>
          <a:bodyPr/>
          <a:lstStyle/>
          <a:p>
            <a:pPr algn="ctr"/>
            <a:r>
              <a:rPr lang="en-US" dirty="0"/>
              <a:t>Kuleshov effect </a:t>
            </a:r>
          </a:p>
        </p:txBody>
      </p:sp>
      <p:pic>
        <p:nvPicPr>
          <p:cNvPr id="5" name="Online Media 4" title="Kuleshov Effect – A video editor’s most powerful tool">
            <a:hlinkClick r:id="" action="ppaction://media"/>
            <a:extLst>
              <a:ext uri="{FF2B5EF4-FFF2-40B4-BE49-F238E27FC236}">
                <a16:creationId xmlns:a16="http://schemas.microsoft.com/office/drawing/2014/main" id="{D32A9DB1-D46D-70F4-7862-0B155665BE9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10799" y="614438"/>
            <a:ext cx="10266044" cy="579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64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Hitchcock Explains the Kuleshov Effect to Fletcher Markle. 1964">
            <a:hlinkClick r:id="" action="ppaction://media"/>
            <a:extLst>
              <a:ext uri="{FF2B5EF4-FFF2-40B4-BE49-F238E27FC236}">
                <a16:creationId xmlns:a16="http://schemas.microsoft.com/office/drawing/2014/main" id="{CFA8AE71-FE7D-7B3A-B1A0-473A17BF75E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78820" y="59267"/>
            <a:ext cx="8461828" cy="634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9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F7C2-8900-048D-2200-9F080EB1F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Sergei Eisenstein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627E4E-E8C9-F51A-99C3-BBBA389AAD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5360" y="2029969"/>
            <a:ext cx="10241280" cy="121094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Most noted figure of the Soviet Montage movement </a:t>
            </a:r>
          </a:p>
          <a:p>
            <a:r>
              <a:rPr lang="en-US" dirty="0"/>
              <a:t>Directed </a:t>
            </a:r>
            <a:r>
              <a:rPr lang="en-US" i="1" dirty="0"/>
              <a:t>Battleship Potemkin</a:t>
            </a:r>
            <a:r>
              <a:rPr lang="en-US" dirty="0"/>
              <a:t>, </a:t>
            </a:r>
            <a:r>
              <a:rPr lang="en-US" i="1" dirty="0"/>
              <a:t>Ten Days That Shook the World</a:t>
            </a:r>
            <a:r>
              <a:rPr lang="en-US" dirty="0"/>
              <a:t>, and </a:t>
            </a:r>
            <a:r>
              <a:rPr lang="en-US" i="1" dirty="0"/>
              <a:t>Strike</a:t>
            </a:r>
          </a:p>
          <a:p>
            <a:r>
              <a:rPr lang="en-US" dirty="0"/>
              <a:t>Identified 5 types of Montage</a:t>
            </a:r>
            <a:r>
              <a:rPr lang="en-US" i="1" dirty="0"/>
              <a:t> </a:t>
            </a:r>
          </a:p>
          <a:p>
            <a:endParaRPr lang="en-US" i="1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E14A35-00B8-912F-1FE3-85D2CC30F4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41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96FA10-DC24-F54A-C887-F4E2536E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5 kinds of montage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5FE157-2683-A16E-FFC0-694AB83F4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u="sng" dirty="0"/>
              <a:t>Metric: </a:t>
            </a:r>
            <a:r>
              <a:rPr lang="en-US" sz="2800" dirty="0"/>
              <a:t>Length/Fixed Pattern</a:t>
            </a:r>
          </a:p>
          <a:p>
            <a:r>
              <a:rPr lang="en-US" sz="2800" u="sng" dirty="0"/>
              <a:t>Rhythmic:</a:t>
            </a:r>
            <a:r>
              <a:rPr lang="en-US" sz="2800" dirty="0"/>
              <a:t> Use of rhythm of shots to create a dynamic flow and enhance the emotional impact of a scene. </a:t>
            </a:r>
          </a:p>
          <a:p>
            <a:r>
              <a:rPr lang="en-US" sz="2800" u="sng" dirty="0"/>
              <a:t>Tonal:</a:t>
            </a:r>
            <a:r>
              <a:rPr lang="en-US" sz="2800" dirty="0"/>
              <a:t> Establish the tone of a scene through editing shots together that have the same thematic aim</a:t>
            </a:r>
          </a:p>
          <a:p>
            <a:r>
              <a:rPr lang="en-US" sz="2800" u="sng" dirty="0"/>
              <a:t>Intellectual:</a:t>
            </a:r>
            <a:r>
              <a:rPr lang="en-US" sz="2800" dirty="0"/>
              <a:t> Evoking of emotion through contrasting images</a:t>
            </a:r>
          </a:p>
          <a:p>
            <a:r>
              <a:rPr lang="en-US" sz="2800" u="sng" dirty="0"/>
              <a:t>Over tonal: C</a:t>
            </a:r>
            <a:r>
              <a:rPr lang="en-US" sz="2800" dirty="0"/>
              <a:t>ombination of the four other types of montages: Intellectual, Metric, Rhythmic and Tonal.</a:t>
            </a:r>
          </a:p>
        </p:txBody>
      </p:sp>
    </p:spTree>
    <p:extLst>
      <p:ext uri="{BB962C8B-B14F-4D97-AF65-F5344CB8AC3E}">
        <p14:creationId xmlns:p14="http://schemas.microsoft.com/office/powerpoint/2010/main" val="4117670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B9DF2-A75C-E4BB-7E40-6F7182B40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55300"/>
            <a:ext cx="10241280" cy="860410"/>
          </a:xfrm>
        </p:spPr>
        <p:txBody>
          <a:bodyPr>
            <a:noAutofit/>
          </a:bodyPr>
          <a:lstStyle/>
          <a:p>
            <a:r>
              <a:rPr lang="en-US" sz="1800" u="sng" dirty="0"/>
              <a:t>Metric Montage </a:t>
            </a:r>
            <a:br>
              <a:rPr lang="en-US" sz="1800" u="sng" dirty="0"/>
            </a:br>
            <a:r>
              <a:rPr lang="en-US" sz="2000" b="0" i="1" dirty="0"/>
              <a:t>Requiem for a Dream</a:t>
            </a:r>
            <a:r>
              <a:rPr lang="en-US" sz="2000" b="0" dirty="0"/>
              <a:t>(2000) Dir. Darren Aronofsky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E888E-E05E-B4A9-C96E-4B1B84D2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Online Media 5" title="REQUIEM FOR A DREAM ADDICTION MONTAGE">
            <a:hlinkClick r:id="" action="ppaction://media"/>
            <a:extLst>
              <a:ext uri="{FF2B5EF4-FFF2-40B4-BE49-F238E27FC236}">
                <a16:creationId xmlns:a16="http://schemas.microsoft.com/office/drawing/2014/main" id="{6A72B2E9-F2DC-9C52-493F-957A300812D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16038" y="915710"/>
            <a:ext cx="9585806" cy="541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31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5DF5F-7CBD-85CC-0478-5EF09FE7A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9" y="98843"/>
            <a:ext cx="10241280" cy="515595"/>
          </a:xfrm>
        </p:spPr>
        <p:txBody>
          <a:bodyPr>
            <a:noAutofit/>
          </a:bodyPr>
          <a:lstStyle/>
          <a:p>
            <a:r>
              <a:rPr lang="en-US" sz="2000" u="sng" dirty="0"/>
              <a:t>Rhythmic Montage</a:t>
            </a:r>
            <a:br>
              <a:rPr lang="en-US" sz="2000" u="sng" dirty="0"/>
            </a:br>
            <a:r>
              <a:rPr lang="en-US" sz="2000" b="0" i="1" dirty="0"/>
              <a:t>Whiplash</a:t>
            </a:r>
            <a:r>
              <a:rPr lang="en-US" sz="2000" b="0" dirty="0"/>
              <a:t> (2014) Dir. Damien Chazelle</a:t>
            </a:r>
            <a:endParaRPr lang="en-US" sz="2000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30C00-B029-79FB-A641-19259ACD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Online Media 5" title="Whiplash Amazing Final Performance (Caravan) (Part 1) | Whiplash (2014) | 1080p HD">
            <a:hlinkClick r:id="" action="ppaction://media"/>
            <a:extLst>
              <a:ext uri="{FF2B5EF4-FFF2-40B4-BE49-F238E27FC236}">
                <a16:creationId xmlns:a16="http://schemas.microsoft.com/office/drawing/2014/main" id="{FBDD1CF4-76B1-B295-C5E5-83D95E88F2F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38552" y="686566"/>
            <a:ext cx="9958335" cy="562231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4937F0-3893-5D3F-896C-0C16B674B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06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9A966B-D126-42AC-C0B7-B98683EBDAE7}"/>
              </a:ext>
            </a:extLst>
          </p:cNvPr>
          <p:cNvSpPr txBox="1"/>
          <p:nvPr/>
        </p:nvSpPr>
        <p:spPr>
          <a:xfrm>
            <a:off x="2975429" y="29963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https://youtu.be/29xvA9Ly7IQ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F27FDE8-37FA-26DC-2213-D8E3F9AD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676" y="198217"/>
            <a:ext cx="10241280" cy="588167"/>
          </a:xfrm>
        </p:spPr>
        <p:txBody>
          <a:bodyPr>
            <a:noAutofit/>
          </a:bodyPr>
          <a:lstStyle/>
          <a:p>
            <a:r>
              <a:rPr lang="en-US" sz="2000" u="sng" dirty="0"/>
              <a:t>Tonal Montage </a:t>
            </a:r>
            <a:br>
              <a:rPr lang="en-US" sz="2000" u="sng" dirty="0"/>
            </a:br>
            <a:r>
              <a:rPr lang="en-US" sz="2000" b="0" i="1" dirty="0"/>
              <a:t>Interstellar</a:t>
            </a:r>
            <a:r>
              <a:rPr lang="en-US" sz="2000" b="0" dirty="0"/>
              <a:t> (2014) Dir. Christopher Nolan</a:t>
            </a:r>
            <a:endParaRPr lang="en-US" sz="2000" u="sng" dirty="0"/>
          </a:p>
        </p:txBody>
      </p:sp>
      <p:pic>
        <p:nvPicPr>
          <p:cNvPr id="10" name="Online Media 9" title="Interstellar (2014) - Scene “Messages span: 23 years&quot;">
            <a:hlinkClick r:id="" action="ppaction://media"/>
            <a:extLst>
              <a:ext uri="{FF2B5EF4-FFF2-40B4-BE49-F238E27FC236}">
                <a16:creationId xmlns:a16="http://schemas.microsoft.com/office/drawing/2014/main" id="{72CECAC6-3451-F29F-45BF-7C616B83D39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38629" y="786384"/>
            <a:ext cx="10044347" cy="567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74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0B7E-7263-DBD5-0C90-060C5CF3B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23" y="40785"/>
            <a:ext cx="10365619" cy="907482"/>
          </a:xfrm>
        </p:spPr>
        <p:txBody>
          <a:bodyPr>
            <a:normAutofit/>
          </a:bodyPr>
          <a:lstStyle/>
          <a:p>
            <a:r>
              <a:rPr lang="en-US" sz="2800" u="sng" dirty="0"/>
              <a:t>Intellectual montage</a:t>
            </a:r>
            <a:br>
              <a:rPr lang="en-US" sz="2800" dirty="0"/>
            </a:br>
            <a:r>
              <a:rPr lang="en-US" sz="2800" i="1" dirty="0"/>
              <a:t>strike</a:t>
            </a:r>
            <a:r>
              <a:rPr lang="en-US" sz="2800" dirty="0"/>
              <a:t> (1925) dir. Sergei Eisenstein</a:t>
            </a:r>
          </a:p>
        </p:txBody>
      </p:sp>
      <p:pic>
        <p:nvPicPr>
          <p:cNvPr id="5" name="Online Media 4" title="Strike (Eisenstein, 1925) — English Intertitles — HD Quality">
            <a:hlinkClick r:id="" action="ppaction://media"/>
            <a:extLst>
              <a:ext uri="{FF2B5EF4-FFF2-40B4-BE49-F238E27FC236}">
                <a16:creationId xmlns:a16="http://schemas.microsoft.com/office/drawing/2014/main" id="{3374AB34-804F-8122-4DEE-61328FA553DC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07808" y="1010078"/>
            <a:ext cx="7334553" cy="55014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103BD-2035-8A57-6AD1-D5B12087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81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D92EF-630D-564B-C439-F4CBF15D7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4" y="0"/>
            <a:ext cx="10241280" cy="609600"/>
          </a:xfrm>
        </p:spPr>
        <p:txBody>
          <a:bodyPr/>
          <a:lstStyle/>
          <a:p>
            <a:r>
              <a:rPr lang="en-US" u="sng" dirty="0"/>
              <a:t>Intellectual montage </a:t>
            </a:r>
          </a:p>
        </p:txBody>
      </p:sp>
      <p:pic>
        <p:nvPicPr>
          <p:cNvPr id="5" name="Online Media 4" title="Eisenstein's Methods of Montage Explained | Russian Soviet Montage Theory | VIDEO ESSAY">
            <a:hlinkClick r:id="" action="ppaction://media"/>
            <a:extLst>
              <a:ext uri="{FF2B5EF4-FFF2-40B4-BE49-F238E27FC236}">
                <a16:creationId xmlns:a16="http://schemas.microsoft.com/office/drawing/2014/main" id="{E8744021-704F-F721-E67A-30B776B6FE3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58863" y="695325"/>
            <a:ext cx="9523412" cy="53768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A1BD1-5A46-6C9F-66D8-3D35DF7E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22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9D2F-6E54-8A70-3EBC-98091F58B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8" y="35947"/>
            <a:ext cx="10241280" cy="539786"/>
          </a:xfrm>
        </p:spPr>
        <p:txBody>
          <a:bodyPr>
            <a:normAutofit fontScale="90000"/>
          </a:bodyPr>
          <a:lstStyle/>
          <a:p>
            <a:r>
              <a:rPr lang="en-US" sz="2200" u="sng" dirty="0"/>
              <a:t>Over tonal montage</a:t>
            </a:r>
            <a:br>
              <a:rPr lang="en-US" u="sng" dirty="0"/>
            </a:br>
            <a:r>
              <a:rPr lang="en-US" sz="1600" b="0" i="1" dirty="0"/>
              <a:t>Untouchables</a:t>
            </a:r>
            <a:r>
              <a:rPr lang="en-US" sz="1600" b="0" dirty="0"/>
              <a:t> (1987) dir. Brian De Palma</a:t>
            </a:r>
            <a:endParaRPr lang="en-US" sz="1600" u="sng" dirty="0"/>
          </a:p>
        </p:txBody>
      </p:sp>
      <p:pic>
        <p:nvPicPr>
          <p:cNvPr id="5" name="Online Media 4" title="The Stairway Shootout - The Untouchables (8/10) Movie CLIP (1987) HD">
            <a:hlinkClick r:id="" action="ppaction://media"/>
            <a:extLst>
              <a:ext uri="{FF2B5EF4-FFF2-40B4-BE49-F238E27FC236}">
                <a16:creationId xmlns:a16="http://schemas.microsoft.com/office/drawing/2014/main" id="{371DA38E-147C-B601-B36D-A2FCD121C94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82675" y="673100"/>
            <a:ext cx="9563100" cy="53990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BF9E1-FB1A-D5F5-2ACD-8ACE9689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89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6654-0C52-B309-B287-DCD191AB2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80592"/>
            <a:ext cx="5227997" cy="4897808"/>
          </a:xfrm>
        </p:spPr>
        <p:txBody>
          <a:bodyPr/>
          <a:lstStyle/>
          <a:p>
            <a:r>
              <a:rPr lang="en-US" i="1" dirty="0"/>
              <a:t>Battleship Potemkin </a:t>
            </a:r>
            <a:r>
              <a:rPr lang="en-US" dirty="0"/>
              <a:t>(1925) Dir. Sergei Eisenstein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54EF62-25FE-1502-341A-E039FF0E782F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/>
              <a:t>Battleship Potemkin </a:t>
            </a:r>
            <a:r>
              <a:rPr lang="en-US" dirty="0"/>
              <a:t>was a significant turning point in the Soviet Montage cinema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Commemorated the abortive 1905 revolution which has been crushed by the Tsar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Famous montage sequence: The Odessa Steps</a:t>
            </a:r>
          </a:p>
          <a:p>
            <a:pPr marL="1085850" lvl="1" indent="-342900"/>
            <a:r>
              <a:rPr lang="en-US" dirty="0"/>
              <a:t>Rhythmic, Tonal, and Intellectual Montage.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0C6C8-BBF8-D6DB-5F26-A9F1C44B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736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56DB02-2720-2CAE-3504-EC347071E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753" y="60138"/>
            <a:ext cx="10241280" cy="602681"/>
          </a:xfrm>
        </p:spPr>
        <p:txBody>
          <a:bodyPr/>
          <a:lstStyle/>
          <a:p>
            <a:pPr algn="ctr"/>
            <a:r>
              <a:rPr lang="en-US" dirty="0"/>
              <a:t>Odessa Steps </a:t>
            </a:r>
          </a:p>
        </p:txBody>
      </p:sp>
      <p:pic>
        <p:nvPicPr>
          <p:cNvPr id="7" name="Online Media 6" title="Odessa Steps (Battleship Potemkin)">
            <a:hlinkClick r:id="" action="ppaction://media"/>
            <a:extLst>
              <a:ext uri="{FF2B5EF4-FFF2-40B4-BE49-F238E27FC236}">
                <a16:creationId xmlns:a16="http://schemas.microsoft.com/office/drawing/2014/main" id="{0AE91C4F-7F1E-1F31-2A77-18D382A73C6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59390" y="608283"/>
            <a:ext cx="7734968" cy="58016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5AB11-523C-B4BA-8005-123764F3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26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8E8836-8EEB-8189-8BFE-F90CA8451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095" y="118195"/>
            <a:ext cx="10241280" cy="520434"/>
          </a:xfrm>
        </p:spPr>
        <p:txBody>
          <a:bodyPr>
            <a:normAutofit/>
          </a:bodyPr>
          <a:lstStyle/>
          <a:p>
            <a:pPr algn="ctr"/>
            <a:r>
              <a:rPr lang="en-US" sz="2800" i="1" dirty="0"/>
              <a:t>Dune</a:t>
            </a:r>
            <a:r>
              <a:rPr lang="en-US" sz="2800" dirty="0"/>
              <a:t> (2021) Dir. Denis Villeneuve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AD0D6-F6F1-3970-F2A8-5C04E760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Online Media 5" title="Dune - Atreides vs Harkonnen &amp; Sardaukar">
            <a:hlinkClick r:id="" action="ppaction://media"/>
            <a:extLst>
              <a:ext uri="{FF2B5EF4-FFF2-40B4-BE49-F238E27FC236}">
                <a16:creationId xmlns:a16="http://schemas.microsoft.com/office/drawing/2014/main" id="{581296D6-7811-EC04-53CD-73B0E037885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77219" y="877772"/>
            <a:ext cx="9798682" cy="553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3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86F80-7215-47FB-657E-C8F2797A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64777FC-99CE-D7D5-132F-9A5CD512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8562" y="366777"/>
            <a:ext cx="5094318" cy="3382263"/>
          </a:xfrm>
        </p:spPr>
        <p:txBody>
          <a:bodyPr/>
          <a:lstStyle/>
          <a:p>
            <a:r>
              <a:rPr lang="en-US" dirty="0"/>
              <a:t>Upcoming class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2304883-A247-1151-C58C-A464EDAEB52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Read chapter 5</a:t>
            </a:r>
          </a:p>
          <a:p>
            <a:endParaRPr lang="en-US" dirty="0"/>
          </a:p>
          <a:p>
            <a:r>
              <a:rPr lang="en-US" dirty="0"/>
              <a:t>Reading Response Questions due next Monday, October 7</a:t>
            </a:r>
            <a:r>
              <a:rPr lang="en-US" baseline="30000" dirty="0"/>
              <a:t>th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1A628-6E9B-44AE-A7C9-B2E98784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B7C0B5-CD4C-089A-44C0-7C8B220402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8324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D389B5-45E8-4EA7-B5A7-604FF249CF7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CF92924-243E-4C73-8BD6-689D14A495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54F37A-6805-42D4-9FB4-3CFF01A7B9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{385B08CA-9C1A-4FDB-A85B-385EBDC6D7A0}tf89309463_win32</Template>
  <TotalTime>2380</TotalTime>
  <Words>577</Words>
  <Application>Microsoft Office PowerPoint</Application>
  <PresentationFormat>Widescreen</PresentationFormat>
  <Paragraphs>71</Paragraphs>
  <Slides>19</Slides>
  <Notes>2</Notes>
  <HiddenSlides>0</HiddenSlides>
  <MMClips>10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Avenir Next LT Pro</vt:lpstr>
      <vt:lpstr>Avenir Next LT Pro Light</vt:lpstr>
      <vt:lpstr>Calibri</vt:lpstr>
      <vt:lpstr>GradientRiseVTI</vt:lpstr>
      <vt:lpstr>Soviet montage</vt:lpstr>
      <vt:lpstr>Soviet cinema</vt:lpstr>
      <vt:lpstr>Marxism </vt:lpstr>
      <vt:lpstr>Montage </vt:lpstr>
      <vt:lpstr>Kuleshov effect </vt:lpstr>
      <vt:lpstr>Kuleshov effect </vt:lpstr>
      <vt:lpstr>PowerPoint Presentation</vt:lpstr>
      <vt:lpstr>Sergei Eisenstein </vt:lpstr>
      <vt:lpstr>5 kinds of montage</vt:lpstr>
      <vt:lpstr>Metric Montage  Requiem for a Dream(2000) Dir. Darren Aronofsky</vt:lpstr>
      <vt:lpstr>Rhythmic Montage Whiplash (2014) Dir. Damien Chazelle</vt:lpstr>
      <vt:lpstr>Tonal Montage  Interstellar (2014) Dir. Christopher Nolan</vt:lpstr>
      <vt:lpstr>Intellectual montage strike (1925) dir. Sergei Eisenstein</vt:lpstr>
      <vt:lpstr>Intellectual montage </vt:lpstr>
      <vt:lpstr>Over tonal montage Untouchables (1987) dir. Brian De Palma</vt:lpstr>
      <vt:lpstr>Battleship Potemkin (1925) Dir. Sergei Eisenstein</vt:lpstr>
      <vt:lpstr>Odessa Steps </vt:lpstr>
      <vt:lpstr>Dune (2021) Dir. Denis Villeneuve</vt:lpstr>
      <vt:lpstr>Upcoming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Trujeque</dc:creator>
  <cp:lastModifiedBy>taylor trujeque</cp:lastModifiedBy>
  <cp:revision>52</cp:revision>
  <dcterms:created xsi:type="dcterms:W3CDTF">2024-09-28T22:23:41Z</dcterms:created>
  <dcterms:modified xsi:type="dcterms:W3CDTF">2024-10-18T17:53:38Z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